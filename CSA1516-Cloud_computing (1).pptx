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4" r:id="rId15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E429D4-0E1F-4797-80CD-9EB401550783}" v="45" dt="2026-07-26T17:39:33.0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  <Relationship Id="rId15" Type="http://schemas.openxmlformats.org/officeDocument/2006/relationships/slide" Target="slides/slide9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852" y="2319725"/>
            <a:ext cx="9833548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kern="1200">
                <a:solidFill>
                  <a:schemeClr val="tx2"/>
                </a:solidFill>
                <a:latin typeface="Times New Roman"/>
                <a:cs typeface="Times New Roman"/>
              </a:rPr>
              <a:t>Web Services and Their Role in Enabling Cloud Computing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26875" y="4199838"/>
            <a:ext cx="4353412" cy="24572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>
                <a:solidFill>
                  <a:schemeClr val="tx2"/>
                </a:solidFill>
                <a:latin typeface="Times New Roman"/>
                <a:cs typeface="Times New Roman"/>
              </a:rPr>
              <a:t>Presented by  </a:t>
            </a:r>
            <a:endParaRPr lang="en-US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algn="l"/>
            <a:r>
              <a:rPr lang="en-US">
                <a:solidFill>
                  <a:schemeClr val="tx2"/>
                </a:solidFill>
                <a:latin typeface="Times New Roman"/>
                <a:cs typeface="Times New Roman"/>
              </a:rPr>
              <a:t>Name: Jeevitha. B </a:t>
            </a:r>
          </a:p>
          <a:p>
            <a:pPr algn="l"/>
            <a:r>
              <a:rPr lang="en-US">
                <a:solidFill>
                  <a:schemeClr val="tx2"/>
                </a:solidFill>
                <a:latin typeface="Times New Roman"/>
                <a:cs typeface="Times New Roman"/>
              </a:rPr>
              <a:t>Reg. No: 192521242</a:t>
            </a:r>
            <a:endParaRPr lang="en-US">
              <a:solidFill>
                <a:schemeClr val="tx2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BE67A73-9564-F3DD-EED8-8E5C5778974B}"/>
              </a:ext>
            </a:extLst>
          </p:cNvPr>
          <p:cNvSpPr txBox="1"/>
          <p:nvPr/>
        </p:nvSpPr>
        <p:spPr>
          <a:xfrm>
            <a:off x="493952" y="1712078"/>
            <a:ext cx="1227182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Times New Roman"/>
                <a:cs typeface="Times New Roman"/>
              </a:rPr>
              <a:t>CSA1516-CLOUD COMPUTING AND BIG DATA ANALYTICS</a:t>
            </a:r>
            <a:endParaRPr lang="en-US" sz="3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Image 1">
            <a:extLst>
              <a:ext uri="{FF2B5EF4-FFF2-40B4-BE49-F238E27FC236}">
                <a16:creationId xmlns:a16="http://schemas.microsoft.com/office/drawing/2014/main" id="{8F7FBAE9-FD55-1A30-1C63-A974B46543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-735"/>
          <a:stretch>
            <a:fillRect/>
          </a:stretch>
        </p:blipFill>
        <p:spPr>
          <a:xfrm>
            <a:off x="1497920" y="127680"/>
            <a:ext cx="8601075" cy="1007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357574-54C6-A762-1D09-36DE0E3642B8}"/>
              </a:ext>
            </a:extLst>
          </p:cNvPr>
          <p:cNvSpPr txBox="1"/>
          <p:nvPr/>
        </p:nvSpPr>
        <p:spPr>
          <a:xfrm>
            <a:off x="1387093" y="4365788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Times New Roman"/>
                <a:cs typeface="Times New Roman"/>
              </a:rPr>
              <a:t>Guided By:</a:t>
            </a:r>
          </a:p>
          <a:p>
            <a:r>
              <a:rPr lang="en-US" sz="2400" dirty="0" err="1">
                <a:latin typeface="Times New Roman"/>
                <a:cs typeface="Times New Roman"/>
              </a:rPr>
              <a:t>Ms.K.Sandhiya</a:t>
            </a:r>
            <a:r>
              <a:rPr lang="en-US" sz="2400" dirty="0">
                <a:latin typeface="Times New Roman"/>
                <a:cs typeface="Times New Roman"/>
              </a:rPr>
              <a:t> Lakshmi</a:t>
            </a:r>
            <a:endParaRPr lang="en-US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2D662-BA4E-52A0-CDDF-367C8BCB1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84" y="-3238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>
                <a:solidFill>
                  <a:schemeClr val="tx2"/>
                </a:solidFill>
                <a:latin typeface="Times New Roman"/>
                <a:ea typeface="+mj-lt"/>
                <a:cs typeface="Times New Roman"/>
              </a:rPr>
              <a:t>Introduction to Web Services</a:t>
            </a:r>
            <a:endParaRPr lang="en-US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7DF4C-69E9-9D7E-8242-4B08B2570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1594138"/>
            <a:ext cx="9833548" cy="269397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A web service is a software component that lets two applications exchange data over a network, regardless of platform or programming language.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On its own, a network connection does not say how data should be structured or how a service's functions should be called.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Standards like XML, SOAP, and REST fix how requests and responses are formatted and transported.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WSDL describes what operations a service offers, and UDDI helps a client discover that service in the first place.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Together, these standards turn scattered applications into an interoperable, callable network of services.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b="1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Example: A booking application can call a payment gateway's web service to process a transaction, without knowing how that gateway is built internally.</a:t>
            </a:r>
            <a:br>
              <a:rPr lang="en-US" sz="2400" b="1" dirty="0">
                <a:latin typeface="Times New Roman"/>
                <a:ea typeface="+mn-lt"/>
                <a:cs typeface="Times New Roman"/>
              </a:rPr>
            </a:b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endParaRPr lang="en-US" sz="1800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1323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F28E71-4E0B-9FE9-772B-D35FBD67D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-323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>
                <a:solidFill>
                  <a:schemeClr val="tx2"/>
                </a:solidFill>
                <a:latin typeface="Times New Roman"/>
                <a:ea typeface="+mj-lt"/>
                <a:cs typeface="Times New Roman"/>
              </a:rPr>
              <a:t>Core Standards and Protocols in Web Services</a:t>
            </a:r>
            <a:endParaRPr lang="en-US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25A3A-6724-3732-BBCC-9FC903414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112" y="1315085"/>
            <a:ext cx="9833548" cy="26939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>
                <a:solidFill>
                  <a:schemeClr val="tx2"/>
                </a:solidFill>
                <a:latin typeface="Times New Roman"/>
                <a:cs typeface="Times New Roman"/>
              </a:rPr>
              <a:t>Types of Web Service Standards:</a:t>
            </a:r>
            <a:endParaRPr lang="en-US"/>
          </a:p>
          <a:p>
            <a:r>
              <a:rPr lang="en-US" sz="2400" b="1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SOAP: XML-based messaging protocol for strict, contract-based service </a:t>
            </a:r>
            <a:r>
              <a:rPr lang="en-US" sz="2000" b="1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calls</a:t>
            </a:r>
            <a:endParaRPr lang="en-US" sz="20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000" b="1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REST: lightweight, stateless architectural style using standard HTTP methods</a:t>
            </a:r>
            <a:endParaRPr lang="en-US" sz="20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000" b="1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WSDL: machine-readable description of a service's operations, inputs, and outputs</a:t>
            </a:r>
            <a:endParaRPr lang="en-US" sz="20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>
                <a:solidFill>
                  <a:schemeClr val="tx2"/>
                </a:solidFill>
                <a:latin typeface="Times New Roman"/>
                <a:cs typeface="Times New Roman"/>
              </a:rPr>
              <a:t>Key Points:</a:t>
            </a:r>
          </a:p>
          <a:p>
            <a:r>
              <a:rPr lang="en-US" sz="20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Every web service exposes its interface through one of these standards</a:t>
            </a:r>
            <a:endParaRPr lang="en-US" sz="20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0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The standard used affects how tightly or loosely the client and service are coupled</a:t>
            </a:r>
            <a:endParaRPr lang="en-US" sz="20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0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SOAP example — banking systems that need strict transactional guarantees</a:t>
            </a:r>
            <a:endParaRPr lang="en-US" sz="20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0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REST example — most modern cloud APIs, including AWS, Google Cloud, and Twitter</a:t>
            </a:r>
            <a:endParaRPr lang="en-US" sz="20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0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WSDL example — a registry entry describing a currency-conversion service's inputs and outputs</a:t>
            </a:r>
            <a:endParaRPr lang="en-US" sz="20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endParaRPr lang="en-US" sz="24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5601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2D662-BA4E-52A0-CDDF-367C8BCB1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84" y="-3238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>
                <a:solidFill>
                  <a:schemeClr val="tx2"/>
                </a:solidFill>
                <a:latin typeface="Times New Roman"/>
                <a:ea typeface="+mj-lt"/>
                <a:cs typeface="Times New Roman"/>
              </a:rPr>
              <a:t>Illustrated Example: The Request-Response Lifecycle</a:t>
            </a:r>
            <a:endParaRPr lang="en-US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7DF4C-69E9-9D7E-8242-4B08B2570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874520"/>
            <a:ext cx="9829800" cy="86868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>
                <a:solidFill>
                  <a:srgbClr val="3A4A7A"/>
                </a:solidFill>
                <a:latin typeface="Times New Roman"/>
                <a:cs typeface="Times New Roman"/>
              </a:rPr>
              <a:t>A single web-service call is really a short lifecycle -- from the moment a client sends a request to the moment it gets back a response with the data it needs.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9" name="Rounded Rectangle 108"/>
          <p:cNvSpPr/>
          <p:nvPr/>
        </p:nvSpPr>
        <p:spPr>
          <a:xfrm>
            <a:off x="1179576" y="3100000"/>
            <a:ext cx="2150000" cy="1750000"/>
          </a:xfrm>
          <a:prstGeom prst="roundRect">
            <a:avLst>
              <a:gd name="adj" fmla="val 6000"/>
            </a:avLst>
          </a:prstGeom>
          <a:solidFill>
            <a:srgbClr val="EAF0FC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60000" rIns="90000" bIns="60000" rtlCol="0" anchor="t"/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1</a:t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Request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1E2761"/>
                </a:solidFill>
                <a:latin typeface="Calibri"/>
              </a:rPr>
              <a:t>Client sends an HTTP request (GET/POST) to the service endpoint.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739576" y="3100000"/>
            <a:ext cx="2150000" cy="175000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905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60000" rIns="90000" bIns="60000" rtlCol="0" anchor="t"/>
          <a:lstStyle/>
          <a:p>
            <a:pPr algn="l"/>
            <a:r>
              <a:rPr sz="2200" b="1">
                <a:solidFill>
                  <a:srgbClr val="B85042"/>
                </a:solidFill>
                <a:latin typeface="Calibri"/>
              </a:rPr>
              <a:t>2</a:t>
            </a:r>
          </a:p>
          <a:p>
            <a:pPr algn="l"/>
            <a:r>
              <a:rPr sz="1400" b="1">
                <a:solidFill>
                  <a:srgbClr val="B85042"/>
                </a:solidFill>
                <a:latin typeface="Calibri"/>
              </a:rPr>
              <a:t>Process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1E2761"/>
                </a:solidFill>
                <a:latin typeface="Calibri"/>
              </a:rPr>
              <a:t>The web service parses the request and executes the required logic.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299576" y="3100000"/>
            <a:ext cx="2150000" cy="1750000"/>
          </a:xfrm>
          <a:prstGeom prst="roundRect">
            <a:avLst>
              <a:gd name="adj" fmla="val 6000"/>
            </a:avLst>
          </a:prstGeom>
          <a:solidFill>
            <a:srgbClr val="EAF0FC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60000" rIns="90000" bIns="60000" rtlCol="0" anchor="t"/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3</a:t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Fetch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1E2761"/>
                </a:solidFill>
                <a:latin typeface="Calibri"/>
              </a:rPr>
              <a:t>It queries the database or cloud resource needed to fulfill the call.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859576" y="3100000"/>
            <a:ext cx="2150000" cy="175000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905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60000" rIns="90000" bIns="60000" rtlCol="0" anchor="t"/>
          <a:lstStyle/>
          <a:p>
            <a:pPr algn="l"/>
            <a:r>
              <a:rPr sz="2200" b="1">
                <a:solidFill>
                  <a:srgbClr val="B85042"/>
                </a:solidFill>
                <a:latin typeface="Calibri"/>
              </a:rPr>
              <a:t>4</a:t>
            </a:r>
          </a:p>
          <a:p>
            <a:pPr algn="l"/>
            <a:r>
              <a:rPr sz="1400" b="1">
                <a:solidFill>
                  <a:srgbClr val="B85042"/>
                </a:solidFill>
                <a:latin typeface="Calibri"/>
              </a:rPr>
              <a:t>Respond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1E2761"/>
                </a:solidFill>
                <a:latin typeface="Calibri"/>
              </a:rPr>
              <a:t>A structured response (JSON/XML) is returned to the client.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3329576" y="3975000"/>
            <a:ext cx="410000" cy="0"/>
          </a:xfrm>
          <a:prstGeom prst="line">
            <a:avLst/>
          </a:prstGeom>
          <a:ln w="2857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5889576" y="3975000"/>
            <a:ext cx="410000" cy="0"/>
          </a:xfrm>
          <a:prstGeom prst="line">
            <a:avLst/>
          </a:prstGeom>
          <a:ln w="2857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449576" y="3975000"/>
            <a:ext cx="410000" cy="0"/>
          </a:xfrm>
          <a:prstGeom prst="line">
            <a:avLst/>
          </a:prstGeom>
          <a:ln w="2857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323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127790-1AC0-CAB9-30BF-DB513D90B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447" y="-154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>
                <a:solidFill>
                  <a:schemeClr val="tx2"/>
                </a:solidFill>
                <a:latin typeface="Times New Roman"/>
                <a:ea typeface="+mj-lt"/>
                <a:cs typeface="Times New Roman"/>
              </a:rPr>
              <a:t>Web Services as the Bridge to IaaS, PaaS, and SaaS</a:t>
            </a:r>
            <a:endParaRPr lang="en-US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66664-A04A-0D8E-FC35-25533F229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1317173"/>
            <a:ext cx="9833548" cy="26939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chemeClr val="tx2"/>
                </a:solidFill>
                <a:latin typeface="Times New Roman"/>
                <a:cs typeface="Times New Roman"/>
              </a:rPr>
              <a:t>Infrastructure-Level Web Services (IaaS):</a:t>
            </a: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Expose compute, storage, and network resources as callable endpoints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Every resource can be created, resized, or destroyed programmatically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Example: the AWS EC2 API launches or terminates a virtual machine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Requests are authenticated and billed individually, enabling pay-as-you-go pricing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The client never touches physical hardware -- only the API surface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b="1">
                <a:solidFill>
                  <a:schemeClr val="tx2"/>
                </a:solidFill>
                <a:latin typeface="Times New Roman"/>
                <a:cs typeface="Times New Roman"/>
              </a:rPr>
              <a:t>Application &amp; Platform-Level Web Services (PaaS/SaaS):</a:t>
            </a: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Package entire runtimes or finished applications behind REST/SOAP interfaces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Example: Google Workspace APIs, Salesforce APIs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Let third-party apps integrate without building custom connectors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endParaRPr lang="en-US" sz="2400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5176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2D662-BA4E-52A0-CDDF-367C8BCB1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84" y="-3238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>
                <a:solidFill>
                  <a:schemeClr val="tx2"/>
                </a:solidFill>
                <a:latin typeface="Times New Roman"/>
                <a:ea typeface="+mj-lt"/>
                <a:cs typeface="Times New Roman"/>
              </a:rPr>
              <a:t>Illustrated Example: Service Discovery Workflow</a:t>
            </a:r>
            <a:endParaRPr lang="en-US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7DF4C-69E9-9D7E-8242-4B08B2570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874520"/>
            <a:ext cx="9829800" cy="86868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>
                <a:solidFill>
                  <a:srgbClr val="3A4A7A"/>
                </a:solidFill>
                <a:latin typeface="Times New Roman"/>
                <a:cs typeface="Times New Roman"/>
              </a:rPr>
              <a:t>Before a client can call a service, it has to find it. The UDDI registry is what connects providers and consumers without either one needing to know about the other in advance.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" name="Oval 208"/>
          <p:cNvSpPr/>
          <p:nvPr/>
        </p:nvSpPr>
        <p:spPr>
          <a:xfrm>
            <a:off x="4794476" y="3050000"/>
            <a:ext cx="2600000" cy="650000"/>
          </a:xfrm>
          <a:prstGeom prst="ellipse">
            <a:avLst/>
          </a:prstGeom>
          <a:solidFill>
            <a:srgbClr val="FFF3E0"/>
          </a:solidFill>
          <a:ln w="1905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0000" rIns="40000" rtlCol="0" anchor="ctr"/>
          <a:lstStyle/>
          <a:p>
            <a:pPr algn="ctr"/>
            <a:r>
              <a:rPr sz="1400" b="1">
                <a:solidFill>
                  <a:srgbClr val="B85042"/>
                </a:solidFill>
                <a:latin typeface="Calibri"/>
              </a:rPr>
              <a:t>UDDI REGISTRY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1179576" y="4193200"/>
            <a:ext cx="2600000" cy="650000"/>
          </a:xfrm>
          <a:prstGeom prst="roundRect">
            <a:avLst>
              <a:gd name="adj" fmla="val 12000"/>
            </a:avLst>
          </a:prstGeom>
          <a:solidFill>
            <a:srgbClr val="EAF0FC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0000" rIns="40000" rtlCol="0" anchor="ctr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SERVICE PROVIDER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8409376" y="4193200"/>
            <a:ext cx="2600000" cy="650000"/>
          </a:xfrm>
          <a:prstGeom prst="roundRect">
            <a:avLst>
              <a:gd name="adj" fmla="val 12000"/>
            </a:avLst>
          </a:prstGeom>
          <a:solidFill>
            <a:srgbClr val="EAF0FC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0000" rIns="40000" rtlCol="0" anchor="ctr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SERVICE CONSUMER</a:t>
            </a:r>
          </a:p>
        </p:txBody>
      </p:sp>
      <p:cxnSp>
        <p:nvCxnSpPr>
          <p:cNvPr id="212" name="Connector 211"/>
          <p:cNvCxnSpPr/>
          <p:nvPr/>
        </p:nvCxnSpPr>
        <p:spPr>
          <a:xfrm flipV="1">
            <a:off x="3779576" y="3700000"/>
            <a:ext cx="1014900" cy="493200"/>
          </a:xfrm>
          <a:prstGeom prst="line">
            <a:avLst/>
          </a:prstGeom>
          <a:ln w="2857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H="1" flipV="1">
            <a:off x="7394476" y="3700000"/>
            <a:ext cx="1014900" cy="493200"/>
          </a:xfrm>
          <a:prstGeom prst="line">
            <a:avLst/>
          </a:prstGeom>
          <a:ln w="2857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H="1">
            <a:off x="3779576" y="4518200"/>
            <a:ext cx="4629800" cy="0"/>
          </a:xfrm>
          <a:prstGeom prst="line">
            <a:avLst/>
          </a:prstGeom>
          <a:ln w="28575">
            <a:solidFill>
              <a:srgbClr val="B85042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2950000" y="3721600"/>
            <a:ext cx="1750000" cy="4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E2761"/>
                </a:solidFill>
                <a:latin typeface="Calibri"/>
              </a:rPr>
              <a:t>① Publish
(WSDL)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350000" y="3721600"/>
            <a:ext cx="1750000" cy="4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E2761"/>
                </a:solidFill>
                <a:latin typeface="Calibri"/>
              </a:rPr>
              <a:t>② Discover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4600000" y="4598200"/>
            <a:ext cx="300000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B85042"/>
                </a:solidFill>
                <a:latin typeface="Calibri"/>
              </a:rPr>
              <a:t>③ Bind &amp; Invoke</a:t>
            </a:r>
          </a:p>
        </p:txBody>
      </p:sp>
    </p:spTree>
    <p:extLst>
      <p:ext uri="{BB962C8B-B14F-4D97-AF65-F5344CB8AC3E}">
        <p14:creationId xmlns:p14="http://schemas.microsoft.com/office/powerpoint/2010/main" val="3101323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EB7F1-5600-5BD3-E0F3-695698D98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459" y="-138937"/>
            <a:ext cx="9833548" cy="1325563"/>
          </a:xfrm>
        </p:spPr>
        <p:txBody>
          <a:bodyPr anchor="b">
            <a:normAutofit/>
          </a:bodyPr>
          <a:lstStyle/>
          <a:p>
            <a:pPr marL="228600" indent="-228600" algn="ctr">
              <a:spcBef>
                <a:spcPts val="1000"/>
              </a:spcBef>
            </a:pPr>
            <a:r>
              <a:rPr lang="en-US">
                <a:solidFill>
                  <a:schemeClr val="tx2"/>
                </a:solidFill>
                <a:latin typeface="Times New Roman"/>
                <a:ea typeface="+mj-lt"/>
                <a:cs typeface="Times New Roman"/>
              </a:rPr>
              <a:t>Conclusion</a:t>
            </a:r>
            <a:endParaRPr lang="en-US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2C5A2-2275-78FB-AFA8-C85968CFD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1296594"/>
            <a:ext cx="9833548" cy="26939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chemeClr val="tx2"/>
                </a:solidFill>
                <a:latin typeface="Times New Roman"/>
                <a:cs typeface="Times New Roman"/>
              </a:rPr>
              <a:t>Key Takeaways:</a:t>
            </a: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A web-service standard (SOAP or REST) answers “how do systems talk” -- the message format and transport 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WSDL and UDDI answer “how is a service described and found” 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A cloud platform's request-response pattern only works because both ends honor the same interface contract 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Together these mechanisms turn independent applications into a connected, callable cloud 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b="1">
                <a:solidFill>
                  <a:schemeClr val="tx2"/>
                </a:solidFill>
                <a:latin typeface="Times New Roman"/>
                <a:cs typeface="Times New Roman"/>
              </a:rPr>
              <a:t>In Summary:</a:t>
            </a: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These standards give developers a common, dependable interface. 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They remove the need to know how a remote service is built internally. 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Adopting them early avoids brittle, one-off integrations later.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>
              <a:buNone/>
            </a:pPr>
            <a:endParaRPr lang="en-US" sz="3600" b="1" dirty="0">
              <a:solidFill>
                <a:schemeClr val="accent1"/>
              </a:solidFill>
              <a:latin typeface="Times New Roman"/>
              <a:cs typeface="Times New Roman"/>
            </a:endParaRPr>
          </a:p>
          <a:p>
            <a:endParaRPr lang="en-US" sz="110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7619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63561-60DB-6D4F-1A7B-32D24EC81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1057" y="2790825"/>
            <a:ext cx="4209143" cy="6429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4800">
                <a:latin typeface="Times New Roman"/>
                <a:cs typeface="Times New Roman"/>
              </a:rPr>
              <a:t>Thank You!​!</a:t>
            </a:r>
          </a:p>
        </p:txBody>
      </p:sp>
    </p:spTree>
    <p:extLst>
      <p:ext uri="{BB962C8B-B14F-4D97-AF65-F5344CB8AC3E}">
        <p14:creationId xmlns:p14="http://schemas.microsoft.com/office/powerpoint/2010/main" val="2323087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EB7F1-5600-5BD3-E0F3-695698D98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459" y="-138937"/>
            <a:ext cx="9833548" cy="1325563"/>
          </a:xfrm>
        </p:spPr>
        <p:txBody>
          <a:bodyPr anchor="b">
            <a:normAutofit/>
          </a:bodyPr>
          <a:lstStyle/>
          <a:p>
            <a:pPr marL="228600" indent="-228600" algn="ctr">
              <a:spcBef>
                <a:spcPts val="1000"/>
              </a:spcBef>
            </a:pPr>
            <a:r>
              <a:rPr lang="en-US">
                <a:solidFill>
                  <a:schemeClr val="tx2"/>
                </a:solidFill>
                <a:latin typeface="Times New Roman"/>
                <a:ea typeface="+mj-lt"/>
                <a:cs typeface="Times New Roman"/>
              </a:rPr>
              <a:t>References</a:t>
            </a:r>
            <a:endParaRPr lang="en-US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2C5A2-2275-78FB-AFA8-C85968CFD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1296594"/>
            <a:ext cx="9833548" cy="26939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chemeClr val="tx2"/>
                </a:solidFill>
                <a:latin typeface="Times New Roman"/>
                <a:cs typeface="Times New Roman"/>
              </a:rPr>
              <a:t>Standards &amp; Protocols:</a:t>
            </a: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W3C, "Web Services Architecture," W3C Working Group Note, 2004.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W3C, "SOAP Version 1.2 Part 1: Messaging Framework," 2007.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R. Fielding, "Architectural Styles and the Design of Network-based Software Architectures," Ph.D. Dissertation, UC Irvine, 2000.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W3C, "Web Services Description Language (WSDL) 1.1," 2001; OASIS, "UDDI Version 3.0.2," 2004.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b="1">
                <a:solidFill>
                  <a:schemeClr val="tx2"/>
                </a:solidFill>
                <a:latin typeface="Times New Roman"/>
                <a:cs typeface="Times New Roman"/>
              </a:rPr>
              <a:t>Cloud Platforms &amp; Texts:</a:t>
            </a: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Amazon Web Services, "Amazon EC2 API Reference," AWS Documentation.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Google, "Google Workspace APIs Overview"; Salesforce, "REST API Developer Guide."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R. Buyya, C. Vecchiola, and S. T. Selvi, Mastering Cloud Computing, McGraw-Hill, 2013.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>
              <a:buNone/>
            </a:pPr>
            <a:endParaRPr lang="en-US" sz="3600" b="1" dirty="0">
              <a:solidFill>
                <a:schemeClr val="accent1"/>
              </a:solidFill>
              <a:latin typeface="Times New Roman"/>
              <a:cs typeface="Times New Roman"/>
            </a:endParaRPr>
          </a:p>
          <a:p>
            <a:endParaRPr lang="en-US" sz="110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7619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Web Services and Their Role in Enabling Cloud Computing</vt:lpstr>
      <vt:lpstr>Introduction to Web Services</vt:lpstr>
      <vt:lpstr>Core Standards and Protocols in Web Services</vt:lpstr>
      <vt:lpstr>Illustrated Example: The Request-Response Lifecycle</vt:lpstr>
      <vt:lpstr>Web Services as the Bridge to IaaS, PaaS, and SaaS</vt:lpstr>
      <vt:lpstr>Illustrated Example: Service Discovery Workflow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177</cp:revision>
  <dcterms:created xsi:type="dcterms:W3CDTF">2026-04-26T15:00:56Z</dcterms:created>
  <dcterms:modified xsi:type="dcterms:W3CDTF">2026-07-26T17:41:11Z</dcterms:modified>
</cp:coreProperties>
</file>